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151" d="100"/>
          <a:sy n="151" d="100"/>
        </p:scale>
        <p:origin x="624"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A8C2E2-F955-4228-9C3C-6A83BBFE1250}" type="datetimeFigureOut">
              <a:rPr lang="en-US" smtClean="0"/>
              <a:t>5/21/2026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A3E080-0A17-40D6-B65E-5296DA47502A}" type="slidenum">
              <a:rPr lang="en-US" smtClean="0"/>
              <a:t>‹#›</a:t>
            </a:fld>
            <a:endParaRPr lang="en-US"/>
          </a:p>
        </p:txBody>
      </p:sp>
    </p:spTree>
    <p:extLst>
      <p:ext uri="{BB962C8B-B14F-4D97-AF65-F5344CB8AC3E}">
        <p14:creationId xmlns:p14="http://schemas.microsoft.com/office/powerpoint/2010/main" val="30662408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A3E080-0A17-40D6-B65E-5296DA47502A}" type="slidenum">
              <a:rPr lang="en-US" smtClean="0"/>
              <a:t>13</a:t>
            </a:fld>
            <a:endParaRPr lang="en-US"/>
          </a:p>
        </p:txBody>
      </p:sp>
    </p:spTree>
    <p:extLst>
      <p:ext uri="{BB962C8B-B14F-4D97-AF65-F5344CB8AC3E}">
        <p14:creationId xmlns:p14="http://schemas.microsoft.com/office/powerpoint/2010/main" val="6359828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5/21/2026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5/21/2026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5/21/2026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5/21/2026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5/21/2026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5/21/2026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5/21/2026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5/21/2026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5/21/2026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FFF85-479A-C325-E425-9A805E42BACD}"/>
              </a:ext>
            </a:extLst>
          </p:cNvPr>
          <p:cNvSpPr>
            <a:spLocks noGrp="1"/>
          </p:cNvSpPr>
          <p:nvPr>
            <p:ph type="ctrTitle"/>
          </p:nvPr>
        </p:nvSpPr>
        <p:spPr>
          <a:xfrm>
            <a:off x="1355724" y="766763"/>
            <a:ext cx="10315576" cy="2387600"/>
          </a:xfrm>
        </p:spPr>
        <p:txBody>
          <a:bodyPr>
            <a:normAutofit/>
          </a:bodyPr>
          <a:lstStyle/>
          <a:p>
            <a:pPr algn="ctr"/>
            <a:r>
              <a:rPr lang="en-US" sz="4000" b="1" dirty="0"/>
              <a:t>Autonomous Drone Interception System</a:t>
            </a:r>
            <a:br>
              <a:rPr lang="en-US" sz="4000" b="1" dirty="0"/>
            </a:br>
            <a:endParaRPr lang="en-US" sz="4000" dirty="0"/>
          </a:p>
        </p:txBody>
      </p:sp>
      <p:sp>
        <p:nvSpPr>
          <p:cNvPr id="3" name="Subtitle 2">
            <a:extLst>
              <a:ext uri="{FF2B5EF4-FFF2-40B4-BE49-F238E27FC236}">
                <a16:creationId xmlns:a16="http://schemas.microsoft.com/office/drawing/2014/main" id="{9B336048-90DA-09E6-FC4C-7DB971DA3538}"/>
              </a:ext>
            </a:extLst>
          </p:cNvPr>
          <p:cNvSpPr>
            <a:spLocks noGrp="1"/>
          </p:cNvSpPr>
          <p:nvPr>
            <p:ph type="subTitle" idx="1"/>
          </p:nvPr>
        </p:nvSpPr>
        <p:spPr>
          <a:xfrm>
            <a:off x="1700212" y="3316288"/>
            <a:ext cx="8791575" cy="1655762"/>
          </a:xfrm>
        </p:spPr>
        <p:txBody>
          <a:bodyPr/>
          <a:lstStyle/>
          <a:p>
            <a:pPr algn="ctr"/>
            <a:r>
              <a:rPr lang="en-US" sz="4800" b="1" u="sng" dirty="0">
                <a:solidFill>
                  <a:schemeClr val="tx1"/>
                </a:solidFill>
              </a:rPr>
              <a:t>SHEHANAH</a:t>
            </a:r>
            <a:endParaRPr lang="en-US" b="1" u="sng" dirty="0">
              <a:solidFill>
                <a:schemeClr val="tx1"/>
              </a:solidFill>
            </a:endParaRPr>
          </a:p>
          <a:p>
            <a:endParaRPr lang="en-US" dirty="0"/>
          </a:p>
        </p:txBody>
      </p:sp>
    </p:spTree>
    <p:extLst>
      <p:ext uri="{BB962C8B-B14F-4D97-AF65-F5344CB8AC3E}">
        <p14:creationId xmlns:p14="http://schemas.microsoft.com/office/powerpoint/2010/main" val="1234696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1FF46-795C-F319-76A6-B0BCC4FDF18F}"/>
              </a:ext>
            </a:extLst>
          </p:cNvPr>
          <p:cNvSpPr>
            <a:spLocks noGrp="1"/>
          </p:cNvSpPr>
          <p:nvPr>
            <p:ph type="title"/>
          </p:nvPr>
        </p:nvSpPr>
        <p:spPr/>
        <p:txBody>
          <a:bodyPr>
            <a:normAutofit/>
          </a:bodyPr>
          <a:lstStyle/>
          <a:p>
            <a:pPr algn="ctr"/>
            <a:r>
              <a:rPr lang="en-US" b="1" dirty="0"/>
              <a:t>Autonomous Drone Interception System</a:t>
            </a:r>
            <a:br>
              <a:rPr lang="en-US" b="1" dirty="0"/>
            </a:br>
            <a:r>
              <a:rPr lang="ar-SA" b="1" dirty="0"/>
              <a:t>نظام اعتراض الطائرات المسيّرة بشكل ذاتي</a:t>
            </a:r>
            <a:endParaRPr lang="en-US" dirty="0"/>
          </a:p>
        </p:txBody>
      </p:sp>
      <p:sp>
        <p:nvSpPr>
          <p:cNvPr id="3" name="Content Placeholder 2">
            <a:extLst>
              <a:ext uri="{FF2B5EF4-FFF2-40B4-BE49-F238E27FC236}">
                <a16:creationId xmlns:a16="http://schemas.microsoft.com/office/drawing/2014/main" id="{4DBEE862-2988-3DD5-42F3-E1803E5D3E1E}"/>
              </a:ext>
            </a:extLst>
          </p:cNvPr>
          <p:cNvSpPr>
            <a:spLocks noGrp="1"/>
          </p:cNvSpPr>
          <p:nvPr>
            <p:ph idx="1"/>
          </p:nvPr>
        </p:nvSpPr>
        <p:spPr>
          <a:xfrm>
            <a:off x="500062" y="2097088"/>
            <a:ext cx="9905999" cy="4711700"/>
          </a:xfrm>
        </p:spPr>
        <p:txBody>
          <a:bodyPr/>
          <a:lstStyle/>
          <a:p>
            <a:pPr marL="0" indent="0">
              <a:buNone/>
            </a:pPr>
            <a:endParaRPr lang="en-US" dirty="0"/>
          </a:p>
          <a:p>
            <a:r>
              <a:rPr lang="en-US" dirty="0"/>
              <a:t>Low-cost Anti-Drone Solution </a:t>
            </a:r>
          </a:p>
          <a:p>
            <a:r>
              <a:rPr lang="en-US" dirty="0"/>
              <a:t>Python + MAVSDK + PX4 ………</a:t>
            </a:r>
            <a:endParaRPr lang="ar-SA" dirty="0"/>
          </a:p>
          <a:p>
            <a:r>
              <a:rPr lang="en-US" dirty="0"/>
              <a:t>AI-based Autonomous Control</a:t>
            </a:r>
            <a:endParaRPr lang="ar-SA" dirty="0"/>
          </a:p>
          <a:p>
            <a:pPr marL="0" indent="0">
              <a:buNone/>
            </a:pPr>
            <a:endParaRPr lang="en-US" dirty="0"/>
          </a:p>
          <a:p>
            <a:endParaRPr lang="en-US" dirty="0"/>
          </a:p>
          <a:p>
            <a:endParaRPr lang="en-US" dirty="0"/>
          </a:p>
        </p:txBody>
      </p:sp>
      <p:pic>
        <p:nvPicPr>
          <p:cNvPr id="6" name="Picture 5" descr="Ukrainian Interceptor Drone Systems | Dignitas Fund">
            <a:extLst>
              <a:ext uri="{FF2B5EF4-FFF2-40B4-BE49-F238E27FC236}">
                <a16:creationId xmlns:a16="http://schemas.microsoft.com/office/drawing/2014/main" id="{6AE477D3-1C1D-BC90-25A0-DF08EC15B322}"/>
              </a:ext>
            </a:extLst>
          </p:cNvPr>
          <p:cNvPicPr>
            <a:picLocks noChangeAspect="1"/>
          </p:cNvPicPr>
          <p:nvPr/>
        </p:nvPicPr>
        <p:blipFill>
          <a:blip r:embed="rId2"/>
          <a:stretch>
            <a:fillRect/>
          </a:stretch>
        </p:blipFill>
        <p:spPr>
          <a:xfrm>
            <a:off x="5640030" y="2342010"/>
            <a:ext cx="5334949" cy="2979290"/>
          </a:xfrm>
          <a:prstGeom prst="rect">
            <a:avLst/>
          </a:prstGeom>
        </p:spPr>
      </p:pic>
    </p:spTree>
    <p:extLst>
      <p:ext uri="{BB962C8B-B14F-4D97-AF65-F5344CB8AC3E}">
        <p14:creationId xmlns:p14="http://schemas.microsoft.com/office/powerpoint/2010/main" val="2270504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3AD8E-E714-A494-031D-2FAC037323F9}"/>
              </a:ext>
            </a:extLst>
          </p:cNvPr>
          <p:cNvSpPr>
            <a:spLocks noGrp="1"/>
          </p:cNvSpPr>
          <p:nvPr>
            <p:ph type="title"/>
          </p:nvPr>
        </p:nvSpPr>
        <p:spPr>
          <a:xfrm>
            <a:off x="1325563" y="605818"/>
            <a:ext cx="9905998" cy="1478570"/>
          </a:xfrm>
        </p:spPr>
        <p:txBody>
          <a:bodyPr/>
          <a:lstStyle/>
          <a:p>
            <a:pPr algn="ctr"/>
            <a:r>
              <a:rPr lang="en-US" b="1" dirty="0"/>
              <a:t>Problem Statement | </a:t>
            </a:r>
            <a:r>
              <a:rPr lang="ar-SA" b="1" dirty="0"/>
              <a:t>المشكلة</a:t>
            </a:r>
            <a:br>
              <a:rPr lang="ar-SA" b="1" dirty="0"/>
            </a:br>
            <a:endParaRPr lang="en-US" dirty="0"/>
          </a:p>
        </p:txBody>
      </p:sp>
      <p:sp>
        <p:nvSpPr>
          <p:cNvPr id="3" name="Content Placeholder 2">
            <a:extLst>
              <a:ext uri="{FF2B5EF4-FFF2-40B4-BE49-F238E27FC236}">
                <a16:creationId xmlns:a16="http://schemas.microsoft.com/office/drawing/2014/main" id="{7ECBF9F3-2357-6417-713C-648287EAB5E9}"/>
              </a:ext>
            </a:extLst>
          </p:cNvPr>
          <p:cNvSpPr>
            <a:spLocks noGrp="1"/>
          </p:cNvSpPr>
          <p:nvPr>
            <p:ph idx="1"/>
          </p:nvPr>
        </p:nvSpPr>
        <p:spPr>
          <a:xfrm>
            <a:off x="5638800" y="2535423"/>
            <a:ext cx="6018211" cy="3402013"/>
          </a:xfrm>
        </p:spPr>
        <p:txBody>
          <a:bodyPr>
            <a:normAutofit/>
          </a:bodyPr>
          <a:lstStyle/>
          <a:p>
            <a:pPr algn="r" rtl="1"/>
            <a:r>
              <a:rPr lang="ar-SA" sz="1400" b="1" dirty="0"/>
              <a:t>بيان المشكلة</a:t>
            </a:r>
            <a:endParaRPr lang="ar-SA" sz="1400" dirty="0"/>
          </a:p>
          <a:p>
            <a:pPr algn="r" rtl="1"/>
            <a:r>
              <a:rPr lang="ar-SA" sz="1400" dirty="0"/>
              <a:t>تزايد استخدام الطائرات بدون طيار ذات البصمة </a:t>
            </a:r>
            <a:r>
              <a:rPr lang="ar-SA" sz="1400" dirty="0" err="1"/>
              <a:t>الرادارية</a:t>
            </a:r>
            <a:r>
              <a:rPr lang="ar-SA" sz="1400" dirty="0"/>
              <a:t> المنخفضة وصعوبة رصدها عبر أنظمة الرادار التقليدية </a:t>
            </a:r>
          </a:p>
          <a:p>
            <a:pPr algn="r" rtl="1"/>
            <a:r>
              <a:rPr lang="ar-SA" sz="1400" dirty="0"/>
              <a:t>ارتفاع تكلفة أنظمة الدفاع الجوي الحالية </a:t>
            </a:r>
          </a:p>
          <a:p>
            <a:pPr algn="r" rtl="1"/>
            <a:r>
              <a:rPr lang="ar-SA" sz="1400" dirty="0"/>
              <a:t>محدودية فعالية الرادارات في كشف الأهداف الصغيرة أو ضعيفة الإشارة </a:t>
            </a:r>
          </a:p>
          <a:p>
            <a:pPr algn="r" rtl="1"/>
            <a:r>
              <a:rPr lang="ar-SA" sz="1400" dirty="0"/>
              <a:t>الحاجة إلى أنظمة اعتراض ذاتي في الوقت الحقيقي </a:t>
            </a:r>
          </a:p>
          <a:p>
            <a:pPr algn="r" rtl="1"/>
            <a:r>
              <a:rPr lang="ar-SA" sz="1400" dirty="0"/>
              <a:t>اتساع الفجوة بين تطور الطائرات بدون طيار وقدرات أنظمة الدفاع التقليدية</a:t>
            </a:r>
          </a:p>
          <a:p>
            <a:pPr algn="r" rtl="1"/>
            <a:endParaRPr lang="en-US" sz="1400" dirty="0"/>
          </a:p>
        </p:txBody>
      </p:sp>
      <p:sp>
        <p:nvSpPr>
          <p:cNvPr id="4" name="Content Placeholder 2">
            <a:extLst>
              <a:ext uri="{FF2B5EF4-FFF2-40B4-BE49-F238E27FC236}">
                <a16:creationId xmlns:a16="http://schemas.microsoft.com/office/drawing/2014/main" id="{48A2EFB6-1B63-4C27-940B-EF6F978D1978}"/>
              </a:ext>
            </a:extLst>
          </p:cNvPr>
          <p:cNvSpPr txBox="1">
            <a:spLocks/>
          </p:cNvSpPr>
          <p:nvPr/>
        </p:nvSpPr>
        <p:spPr>
          <a:xfrm>
            <a:off x="196850" y="2292350"/>
            <a:ext cx="5899150" cy="323674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algn="r" rtl="1"/>
            <a:endParaRPr lang="en-US" sz="1400" dirty="0"/>
          </a:p>
        </p:txBody>
      </p:sp>
      <p:sp>
        <p:nvSpPr>
          <p:cNvPr id="6" name="TextBox 5">
            <a:extLst>
              <a:ext uri="{FF2B5EF4-FFF2-40B4-BE49-F238E27FC236}">
                <a16:creationId xmlns:a16="http://schemas.microsoft.com/office/drawing/2014/main" id="{82E988C3-D4EE-FF4C-4597-3600A9D0DD5E}"/>
              </a:ext>
            </a:extLst>
          </p:cNvPr>
          <p:cNvSpPr txBox="1"/>
          <p:nvPr/>
        </p:nvSpPr>
        <p:spPr>
          <a:xfrm>
            <a:off x="196850" y="2322884"/>
            <a:ext cx="6286500" cy="2308324"/>
          </a:xfrm>
          <a:prstGeom prst="rect">
            <a:avLst/>
          </a:prstGeom>
          <a:noFill/>
        </p:spPr>
        <p:txBody>
          <a:bodyPr wrap="square">
            <a:spAutoFit/>
          </a:bodyPr>
          <a:lstStyle/>
          <a:p>
            <a:pPr>
              <a:buNone/>
            </a:pPr>
            <a:r>
              <a:rPr lang="en-US" sz="1600" b="1" dirty="0"/>
              <a:t>Problem Statement</a:t>
            </a:r>
            <a:endParaRPr lang="en-US" sz="1600" dirty="0"/>
          </a:p>
          <a:p>
            <a:pPr>
              <a:buFont typeface="Arial" panose="020B0604020202020204" pitchFamily="34" charset="0"/>
              <a:buChar char="•"/>
            </a:pPr>
            <a:r>
              <a:rPr lang="en-US" sz="1600" dirty="0"/>
              <a:t>Increasing use of stealth, low-radar-signature drones that are difficult to detect with conventional radar systems </a:t>
            </a:r>
          </a:p>
          <a:p>
            <a:pPr>
              <a:buFont typeface="Arial" panose="020B0604020202020204" pitchFamily="34" charset="0"/>
              <a:buChar char="•"/>
            </a:pPr>
            <a:r>
              <a:rPr lang="en-US" sz="1600" dirty="0"/>
              <a:t>High cost of current air defense and interception systems </a:t>
            </a:r>
          </a:p>
          <a:p>
            <a:pPr>
              <a:buFont typeface="Arial" panose="020B0604020202020204" pitchFamily="34" charset="0"/>
              <a:buChar char="•"/>
            </a:pPr>
            <a:r>
              <a:rPr lang="en-US" sz="1600" dirty="0"/>
              <a:t>Limited effectiveness of radar systems against small or low-signature aerial targets </a:t>
            </a:r>
          </a:p>
          <a:p>
            <a:pPr>
              <a:buFont typeface="Arial" panose="020B0604020202020204" pitchFamily="34" charset="0"/>
              <a:buChar char="•"/>
            </a:pPr>
            <a:r>
              <a:rPr lang="en-US" sz="1600" dirty="0"/>
              <a:t>Need for real-time autonomous interception systems </a:t>
            </a:r>
          </a:p>
          <a:p>
            <a:pPr>
              <a:buFont typeface="Arial" panose="020B0604020202020204" pitchFamily="34" charset="0"/>
              <a:buChar char="•"/>
            </a:pPr>
            <a:r>
              <a:rPr lang="en-US" sz="1600" dirty="0"/>
              <a:t>Growing gap between rapid drone advancement and traditional defense capabilities</a:t>
            </a:r>
          </a:p>
        </p:txBody>
      </p:sp>
      <p:pic>
        <p:nvPicPr>
          <p:cNvPr id="7" name="Picture 6" descr="Advanced Radar and Filtering: Countering 'Dark' Autonomous Drones">
            <a:extLst>
              <a:ext uri="{FF2B5EF4-FFF2-40B4-BE49-F238E27FC236}">
                <a16:creationId xmlns:a16="http://schemas.microsoft.com/office/drawing/2014/main" id="{E1CB87B0-C00E-B745-23A8-D9BD5B53A9E7}"/>
              </a:ext>
            </a:extLst>
          </p:cNvPr>
          <p:cNvPicPr>
            <a:picLocks noChangeAspect="1"/>
          </p:cNvPicPr>
          <p:nvPr/>
        </p:nvPicPr>
        <p:blipFill>
          <a:blip r:embed="rId2"/>
          <a:stretch>
            <a:fillRect/>
          </a:stretch>
        </p:blipFill>
        <p:spPr>
          <a:xfrm>
            <a:off x="2056433" y="4463828"/>
            <a:ext cx="4233242" cy="2308324"/>
          </a:xfrm>
          <a:prstGeom prst="rect">
            <a:avLst/>
          </a:prstGeom>
        </p:spPr>
      </p:pic>
    </p:spTree>
    <p:extLst>
      <p:ext uri="{BB962C8B-B14F-4D97-AF65-F5344CB8AC3E}">
        <p14:creationId xmlns:p14="http://schemas.microsoft.com/office/powerpoint/2010/main" val="20890391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74C38-5F2A-E519-0BDF-2BF35B6B58C2}"/>
              </a:ext>
            </a:extLst>
          </p:cNvPr>
          <p:cNvSpPr>
            <a:spLocks noGrp="1"/>
          </p:cNvSpPr>
          <p:nvPr>
            <p:ph type="title"/>
          </p:nvPr>
        </p:nvSpPr>
        <p:spPr/>
        <p:txBody>
          <a:bodyPr/>
          <a:lstStyle/>
          <a:p>
            <a:pPr algn="ctr"/>
            <a:r>
              <a:rPr lang="en-US" b="1" dirty="0"/>
              <a:t>System Concept | </a:t>
            </a:r>
            <a:r>
              <a:rPr lang="ar-SA" b="1" dirty="0"/>
              <a:t>فكرة النظام</a:t>
            </a:r>
            <a:br>
              <a:rPr lang="ar-SA" b="1" dirty="0"/>
            </a:br>
            <a:endParaRPr lang="en-US" dirty="0"/>
          </a:p>
        </p:txBody>
      </p:sp>
      <p:sp>
        <p:nvSpPr>
          <p:cNvPr id="3" name="Content Placeholder 2">
            <a:extLst>
              <a:ext uri="{FF2B5EF4-FFF2-40B4-BE49-F238E27FC236}">
                <a16:creationId xmlns:a16="http://schemas.microsoft.com/office/drawing/2014/main" id="{60A0AD22-31D5-DE0F-C3CA-A0C491F9CD8B}"/>
              </a:ext>
            </a:extLst>
          </p:cNvPr>
          <p:cNvSpPr>
            <a:spLocks noGrp="1"/>
          </p:cNvSpPr>
          <p:nvPr>
            <p:ph idx="1"/>
          </p:nvPr>
        </p:nvSpPr>
        <p:spPr>
          <a:xfrm>
            <a:off x="6850063" y="1518444"/>
            <a:ext cx="4678361" cy="3321051"/>
          </a:xfrm>
        </p:spPr>
        <p:txBody>
          <a:bodyPr>
            <a:normAutofit/>
          </a:bodyPr>
          <a:lstStyle/>
          <a:p>
            <a:pPr algn="r" rtl="1"/>
            <a:r>
              <a:rPr lang="ar-SA" sz="2000" dirty="0"/>
              <a:t>دخول الطائرة المسيّرة إلى المجال الجوي </a:t>
            </a:r>
          </a:p>
          <a:p>
            <a:pPr algn="r" rtl="1"/>
            <a:r>
              <a:rPr lang="ar-SA" sz="2000" dirty="0"/>
              <a:t>رصد الحركة عبر الرادار </a:t>
            </a:r>
          </a:p>
          <a:p>
            <a:pPr algn="r" rtl="1"/>
            <a:r>
              <a:rPr lang="ar-SA" sz="2000" dirty="0"/>
              <a:t>تفعيل نظام </a:t>
            </a:r>
            <a:r>
              <a:rPr lang="en-US" sz="2000" dirty="0"/>
              <a:t>SHEHANAH</a:t>
            </a:r>
            <a:r>
              <a:rPr lang="ar-SA" sz="2000" dirty="0"/>
              <a:t> تلقائيًا </a:t>
            </a:r>
          </a:p>
          <a:p>
            <a:pPr algn="r" rtl="1"/>
            <a:r>
              <a:rPr lang="ar-SA" sz="2000" dirty="0"/>
              <a:t>بدء عملية اعتراض عالية السرعة </a:t>
            </a:r>
          </a:p>
          <a:p>
            <a:pPr algn="r" rtl="1"/>
            <a:r>
              <a:rPr lang="ar-SA" sz="2000" dirty="0"/>
              <a:t>انتهاء المهمة عند تحقيق الاصطدام / الاعتراض </a:t>
            </a:r>
          </a:p>
        </p:txBody>
      </p:sp>
      <p:sp>
        <p:nvSpPr>
          <p:cNvPr id="6" name="Content Placeholder 2">
            <a:extLst>
              <a:ext uri="{FF2B5EF4-FFF2-40B4-BE49-F238E27FC236}">
                <a16:creationId xmlns:a16="http://schemas.microsoft.com/office/drawing/2014/main" id="{AC00C8DD-7A05-2082-092E-EB16A6F2C339}"/>
              </a:ext>
            </a:extLst>
          </p:cNvPr>
          <p:cNvSpPr txBox="1">
            <a:spLocks/>
          </p:cNvSpPr>
          <p:nvPr/>
        </p:nvSpPr>
        <p:spPr>
          <a:xfrm>
            <a:off x="1092200" y="2097088"/>
            <a:ext cx="3973511" cy="332105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algn="r" rtl="1"/>
            <a:endParaRPr lang="ar-SA" dirty="0"/>
          </a:p>
        </p:txBody>
      </p:sp>
      <p:sp>
        <p:nvSpPr>
          <p:cNvPr id="7" name="Content Placeholder 2">
            <a:extLst>
              <a:ext uri="{FF2B5EF4-FFF2-40B4-BE49-F238E27FC236}">
                <a16:creationId xmlns:a16="http://schemas.microsoft.com/office/drawing/2014/main" id="{D62EDF65-2124-65D8-A622-0BD133110F2A}"/>
              </a:ext>
            </a:extLst>
          </p:cNvPr>
          <p:cNvSpPr txBox="1">
            <a:spLocks/>
          </p:cNvSpPr>
          <p:nvPr/>
        </p:nvSpPr>
        <p:spPr>
          <a:xfrm>
            <a:off x="660400" y="1518444"/>
            <a:ext cx="4678361" cy="332105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US" sz="2000" dirty="0"/>
              <a:t>Target drone enters airspace </a:t>
            </a:r>
          </a:p>
          <a:p>
            <a:r>
              <a:rPr lang="en-US" sz="2000" dirty="0"/>
              <a:t>Radar detects movement </a:t>
            </a:r>
          </a:p>
          <a:p>
            <a:r>
              <a:rPr lang="en-US" sz="2000" dirty="0"/>
              <a:t>SHEHANAH activated automatically </a:t>
            </a:r>
          </a:p>
          <a:p>
            <a:r>
              <a:rPr lang="en-US" sz="2000" dirty="0"/>
              <a:t>High-speed interception begins </a:t>
            </a:r>
          </a:p>
          <a:p>
            <a:r>
              <a:rPr lang="en-US" sz="2000" dirty="0"/>
              <a:t>Mission ends upon contact </a:t>
            </a:r>
          </a:p>
        </p:txBody>
      </p:sp>
      <p:pic>
        <p:nvPicPr>
          <p:cNvPr id="8" name="Picture 7" descr="MARSS | INTERCEPTOR-SR">
            <a:extLst>
              <a:ext uri="{FF2B5EF4-FFF2-40B4-BE49-F238E27FC236}">
                <a16:creationId xmlns:a16="http://schemas.microsoft.com/office/drawing/2014/main" id="{243A72A8-763A-8698-34BF-4A80D8D2AAFE}"/>
              </a:ext>
            </a:extLst>
          </p:cNvPr>
          <p:cNvPicPr>
            <a:picLocks noChangeAspect="1"/>
          </p:cNvPicPr>
          <p:nvPr/>
        </p:nvPicPr>
        <p:blipFill>
          <a:blip r:embed="rId2"/>
          <a:stretch>
            <a:fillRect/>
          </a:stretch>
        </p:blipFill>
        <p:spPr>
          <a:xfrm>
            <a:off x="3511549" y="3985196"/>
            <a:ext cx="4951621" cy="2599753"/>
          </a:xfrm>
          <a:prstGeom prst="rect">
            <a:avLst/>
          </a:prstGeom>
        </p:spPr>
      </p:pic>
    </p:spTree>
    <p:extLst>
      <p:ext uri="{BB962C8B-B14F-4D97-AF65-F5344CB8AC3E}">
        <p14:creationId xmlns:p14="http://schemas.microsoft.com/office/powerpoint/2010/main" val="2416078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112F6-0D1B-724A-7762-13A50934ABD6}"/>
              </a:ext>
            </a:extLst>
          </p:cNvPr>
          <p:cNvSpPr>
            <a:spLocks noGrp="1"/>
          </p:cNvSpPr>
          <p:nvPr>
            <p:ph type="title"/>
          </p:nvPr>
        </p:nvSpPr>
        <p:spPr>
          <a:xfrm>
            <a:off x="1141413" y="66068"/>
            <a:ext cx="9905998" cy="1478570"/>
          </a:xfrm>
        </p:spPr>
        <p:txBody>
          <a:bodyPr/>
          <a:lstStyle/>
          <a:p>
            <a:pPr algn="ctr"/>
            <a:r>
              <a:rPr lang="en-US" dirty="0"/>
              <a:t>System Architecture | </a:t>
            </a:r>
            <a:r>
              <a:rPr lang="ar-SA" dirty="0"/>
              <a:t>معمارية النظام</a:t>
            </a:r>
            <a:endParaRPr lang="en-US" dirty="0"/>
          </a:p>
        </p:txBody>
      </p:sp>
      <p:sp>
        <p:nvSpPr>
          <p:cNvPr id="3" name="Content Placeholder 2">
            <a:extLst>
              <a:ext uri="{FF2B5EF4-FFF2-40B4-BE49-F238E27FC236}">
                <a16:creationId xmlns:a16="http://schemas.microsoft.com/office/drawing/2014/main" id="{37FDF99F-383B-BBE5-D892-D4D34AE2319B}"/>
              </a:ext>
            </a:extLst>
          </p:cNvPr>
          <p:cNvSpPr>
            <a:spLocks noGrp="1"/>
          </p:cNvSpPr>
          <p:nvPr>
            <p:ph idx="1"/>
          </p:nvPr>
        </p:nvSpPr>
        <p:spPr>
          <a:xfrm>
            <a:off x="6457950" y="1728787"/>
            <a:ext cx="4589461" cy="4142393"/>
          </a:xfrm>
        </p:spPr>
        <p:txBody>
          <a:bodyPr>
            <a:normAutofit/>
          </a:bodyPr>
          <a:lstStyle/>
          <a:p>
            <a:pPr algn="r" rtl="1"/>
            <a:r>
              <a:rPr lang="ar-SA" sz="1600" dirty="0"/>
              <a:t>وحدة كشف الرادار:</a:t>
            </a:r>
            <a:br>
              <a:rPr lang="ar-SA" sz="1600" dirty="0"/>
            </a:br>
            <a:r>
              <a:rPr lang="ar-SA" sz="1600" dirty="0"/>
              <a:t>كشف وتتبع الأجسام الجوية في الوقت الحقيقي</a:t>
            </a:r>
          </a:p>
          <a:p>
            <a:pPr algn="r" rtl="1"/>
            <a:r>
              <a:rPr lang="ar-SA" sz="1600" dirty="0"/>
              <a:t> متحكم حالة النظام:</a:t>
            </a:r>
            <a:br>
              <a:rPr lang="ar-SA" sz="1600" dirty="0"/>
            </a:br>
            <a:r>
              <a:rPr lang="ar-SA" sz="1600" dirty="0"/>
              <a:t>إدارة حالات النظام من الاكتشاف إلى الاعتراض </a:t>
            </a:r>
          </a:p>
          <a:p>
            <a:pPr algn="r" rtl="1"/>
            <a:r>
              <a:rPr lang="ar-SA" sz="1600" dirty="0"/>
              <a:t>التحكم بالطيران </a:t>
            </a:r>
            <a:r>
              <a:rPr lang="en-US" sz="1600" dirty="0"/>
              <a:t>PX4</a:t>
            </a:r>
            <a:br>
              <a:rPr lang="en-US" sz="1600" dirty="0"/>
            </a:br>
            <a:r>
              <a:rPr lang="ar-SA" sz="1600" dirty="0"/>
              <a:t>التحكم في حركة واستقرار الطائرة بدون طيار</a:t>
            </a:r>
          </a:p>
          <a:p>
            <a:pPr algn="r" rtl="1"/>
            <a:r>
              <a:rPr lang="ar-SA" sz="1600" dirty="0"/>
              <a:t> الاتصال عبر </a:t>
            </a:r>
            <a:r>
              <a:rPr lang="en-US" sz="1600" dirty="0"/>
              <a:t>MAVSDK:</a:t>
            </a:r>
            <a:br>
              <a:rPr lang="en-US" sz="1600" dirty="0"/>
            </a:br>
            <a:r>
              <a:rPr lang="ar-SA" sz="1600" dirty="0"/>
              <a:t>إدارة الاتصال بين مكونات النظام والطائرة </a:t>
            </a:r>
          </a:p>
          <a:p>
            <a:pPr algn="r" rtl="1"/>
            <a:r>
              <a:rPr lang="ar-SA" sz="1600" dirty="0"/>
              <a:t>منطق الاعتراض:</a:t>
            </a:r>
            <a:br>
              <a:rPr lang="ar-SA" sz="1600" dirty="0"/>
            </a:br>
            <a:r>
              <a:rPr lang="ar-SA" sz="1600" dirty="0"/>
              <a:t>تحديد استراتيجية الاعتراض وتوقيت التنفيذ نظام متكامل لاتخاذ القرار والتنفيذ</a:t>
            </a:r>
          </a:p>
        </p:txBody>
      </p:sp>
      <p:sp>
        <p:nvSpPr>
          <p:cNvPr id="4" name="Content Placeholder 2">
            <a:extLst>
              <a:ext uri="{FF2B5EF4-FFF2-40B4-BE49-F238E27FC236}">
                <a16:creationId xmlns:a16="http://schemas.microsoft.com/office/drawing/2014/main" id="{ED8101B7-82F7-A646-13BD-768FE189AA0E}"/>
              </a:ext>
            </a:extLst>
          </p:cNvPr>
          <p:cNvSpPr txBox="1">
            <a:spLocks/>
          </p:cNvSpPr>
          <p:nvPr/>
        </p:nvSpPr>
        <p:spPr>
          <a:xfrm>
            <a:off x="895350" y="1728788"/>
            <a:ext cx="4589461" cy="4142393"/>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US" sz="1600" dirty="0"/>
              <a:t>Radar Detection Module:</a:t>
            </a:r>
            <a:br>
              <a:rPr lang="en-US" sz="1600" dirty="0"/>
            </a:br>
            <a:r>
              <a:rPr lang="en-US" sz="1600" dirty="0"/>
              <a:t>Detects and tracks aerial objects in real time </a:t>
            </a:r>
          </a:p>
          <a:p>
            <a:r>
              <a:rPr lang="en-US" sz="1600" dirty="0"/>
              <a:t>State Machine Controller:</a:t>
            </a:r>
            <a:br>
              <a:rPr lang="en-US" sz="1600" dirty="0"/>
            </a:br>
            <a:r>
              <a:rPr lang="en-US" sz="1600" dirty="0"/>
              <a:t>Manages system states from detection to interception </a:t>
            </a:r>
          </a:p>
          <a:p>
            <a:r>
              <a:rPr lang="en-US" sz="1600" dirty="0"/>
              <a:t>Flight Control (PX4):</a:t>
            </a:r>
            <a:br>
              <a:rPr lang="en-US" sz="1600" dirty="0"/>
            </a:br>
            <a:r>
              <a:rPr lang="en-US" sz="1600" dirty="0"/>
              <a:t>Controls UAV flight dynamics and stability </a:t>
            </a:r>
          </a:p>
          <a:p>
            <a:r>
              <a:rPr lang="en-US" sz="1600" dirty="0"/>
              <a:t>MAVSDK Communication:</a:t>
            </a:r>
            <a:br>
              <a:rPr lang="en-US" sz="1600" dirty="0"/>
            </a:br>
            <a:r>
              <a:rPr lang="en-US" sz="1600" dirty="0"/>
              <a:t>Handles communication between system components and UAV </a:t>
            </a:r>
          </a:p>
          <a:p>
            <a:r>
              <a:rPr lang="en-US" sz="1600" dirty="0"/>
              <a:t>Interception Logic:</a:t>
            </a:r>
            <a:br>
              <a:rPr lang="en-US" sz="1600" dirty="0"/>
            </a:br>
            <a:r>
              <a:rPr lang="en-US" sz="1600" dirty="0"/>
              <a:t>Determines interception strategy and execution timing </a:t>
            </a:r>
          </a:p>
          <a:p>
            <a:r>
              <a:rPr lang="en-US" sz="1600" dirty="0"/>
              <a:t>Integrated Decision &amp; Execution System </a:t>
            </a:r>
          </a:p>
        </p:txBody>
      </p:sp>
    </p:spTree>
    <p:extLst>
      <p:ext uri="{BB962C8B-B14F-4D97-AF65-F5344CB8AC3E}">
        <p14:creationId xmlns:p14="http://schemas.microsoft.com/office/powerpoint/2010/main" val="390574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73CF8-27E9-AF73-2C3C-02092FF41049}"/>
              </a:ext>
            </a:extLst>
          </p:cNvPr>
          <p:cNvSpPr>
            <a:spLocks noGrp="1"/>
          </p:cNvSpPr>
          <p:nvPr>
            <p:ph type="title"/>
          </p:nvPr>
        </p:nvSpPr>
        <p:spPr>
          <a:xfrm>
            <a:off x="1141413" y="161318"/>
            <a:ext cx="9905998" cy="1478570"/>
          </a:xfrm>
        </p:spPr>
        <p:txBody>
          <a:bodyPr/>
          <a:lstStyle/>
          <a:p>
            <a:pPr algn="ctr"/>
            <a:r>
              <a:rPr lang="en-US" b="1" dirty="0"/>
              <a:t>Radar Detection System</a:t>
            </a:r>
            <a:endParaRPr lang="en-US" dirty="0"/>
          </a:p>
        </p:txBody>
      </p:sp>
      <p:sp>
        <p:nvSpPr>
          <p:cNvPr id="3" name="Content Placeholder 2">
            <a:extLst>
              <a:ext uri="{FF2B5EF4-FFF2-40B4-BE49-F238E27FC236}">
                <a16:creationId xmlns:a16="http://schemas.microsoft.com/office/drawing/2014/main" id="{48C93A49-B4A6-AF40-2401-943A9ADF1468}"/>
              </a:ext>
            </a:extLst>
          </p:cNvPr>
          <p:cNvSpPr>
            <a:spLocks noGrp="1"/>
          </p:cNvSpPr>
          <p:nvPr>
            <p:ph idx="1"/>
          </p:nvPr>
        </p:nvSpPr>
        <p:spPr>
          <a:xfrm>
            <a:off x="698500" y="1557336"/>
            <a:ext cx="10348911" cy="5033963"/>
          </a:xfrm>
        </p:spPr>
        <p:txBody>
          <a:bodyPr>
            <a:normAutofit/>
          </a:bodyPr>
          <a:lstStyle/>
          <a:p>
            <a:r>
              <a:rPr lang="en-US" sz="2000" dirty="0"/>
              <a:t>Detects incoming target (140m → 110m) </a:t>
            </a:r>
          </a:p>
          <a:p>
            <a:r>
              <a:rPr lang="en-US" sz="2000" dirty="0"/>
              <a:t>Continuous tracking </a:t>
            </a:r>
          </a:p>
          <a:p>
            <a:r>
              <a:rPr lang="en-US" sz="2000" dirty="0"/>
              <a:t>Trigger alert at threshold </a:t>
            </a:r>
          </a:p>
          <a:p>
            <a:r>
              <a:rPr lang="en-US" sz="2000" dirty="0"/>
              <a:t>Auto mission activation </a:t>
            </a:r>
          </a:p>
          <a:p>
            <a:pPr marL="0" indent="0">
              <a:buNone/>
            </a:pPr>
            <a:endParaRPr lang="ar-SA" sz="2000" b="1" dirty="0"/>
          </a:p>
          <a:p>
            <a:pPr marL="0" indent="0">
              <a:buNone/>
            </a:pPr>
            <a:r>
              <a:rPr lang="en-US" sz="2000" dirty="0"/>
              <a:t>RADAR_LAUNCH = 110.0</a:t>
            </a:r>
            <a:br>
              <a:rPr lang="en-US" sz="2000" dirty="0"/>
            </a:br>
            <a:br>
              <a:rPr lang="en-US" sz="2000" dirty="0"/>
            </a:br>
            <a:r>
              <a:rPr lang="en-US" sz="2000" dirty="0"/>
              <a:t>if </a:t>
            </a:r>
            <a:r>
              <a:rPr lang="en-US" sz="2000" dirty="0" err="1"/>
              <a:t>target_north</a:t>
            </a:r>
            <a:r>
              <a:rPr lang="en-US" sz="2000" dirty="0"/>
              <a:t> &lt;= RADAR_LAUNCH:</a:t>
            </a:r>
            <a:br>
              <a:rPr lang="en-US" sz="2000" dirty="0"/>
            </a:br>
            <a:r>
              <a:rPr lang="en-US" sz="2000" dirty="0"/>
              <a:t>    print("🚀 Launch SHEHANAH")</a:t>
            </a:r>
          </a:p>
          <a:p>
            <a:endParaRPr lang="en-US" sz="2000" dirty="0"/>
          </a:p>
        </p:txBody>
      </p:sp>
      <p:pic>
        <p:nvPicPr>
          <p:cNvPr id="4" name="Picture 3" descr="https://images.openai.com/static-rsc-4/stnF3R4ICI1x2OWUzeKv2llqYoAoUTovRT5WbDvO2lj8Fqrzv1tSQQmR6RsjCwL5_H8LIotO7BVLa2HKThAEwv9yUbEtH6VJ1G0bqPwGGq6nMj3sFOLzhB5z9f0NPMVNqr4VN9Q2GIAeS24UViqUVng70JA6OTwXpCSKPzk9tdlcopy3ko2YvDjV87KZBPbq?purpose=fullsize">
            <a:extLst>
              <a:ext uri="{FF2B5EF4-FFF2-40B4-BE49-F238E27FC236}">
                <a16:creationId xmlns:a16="http://schemas.microsoft.com/office/drawing/2014/main" id="{19F38340-C9F7-DC19-FFFC-AFD06A22E2CF}"/>
              </a:ext>
            </a:extLst>
          </p:cNvPr>
          <p:cNvPicPr>
            <a:picLocks noChangeAspect="1"/>
          </p:cNvPicPr>
          <p:nvPr/>
        </p:nvPicPr>
        <p:blipFill>
          <a:blip r:embed="rId2"/>
          <a:stretch>
            <a:fillRect/>
          </a:stretch>
        </p:blipFill>
        <p:spPr>
          <a:xfrm>
            <a:off x="5187137" y="2114550"/>
            <a:ext cx="6039995" cy="3397250"/>
          </a:xfrm>
          <a:prstGeom prst="rect">
            <a:avLst/>
          </a:prstGeom>
        </p:spPr>
      </p:pic>
    </p:spTree>
    <p:extLst>
      <p:ext uri="{BB962C8B-B14F-4D97-AF65-F5344CB8AC3E}">
        <p14:creationId xmlns:p14="http://schemas.microsoft.com/office/powerpoint/2010/main" val="1855807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B75F5-EF98-3887-B2F6-A1C7EDA5CB80}"/>
              </a:ext>
            </a:extLst>
          </p:cNvPr>
          <p:cNvSpPr>
            <a:spLocks noGrp="1"/>
          </p:cNvSpPr>
          <p:nvPr>
            <p:ph type="title"/>
          </p:nvPr>
        </p:nvSpPr>
        <p:spPr>
          <a:xfrm>
            <a:off x="1143001" y="97818"/>
            <a:ext cx="9905998" cy="1478570"/>
          </a:xfrm>
        </p:spPr>
        <p:txBody>
          <a:bodyPr/>
          <a:lstStyle/>
          <a:p>
            <a:pPr algn="ctr"/>
            <a:r>
              <a:rPr lang="en-US" b="1" dirty="0"/>
              <a:t>Launch Phase | </a:t>
            </a:r>
            <a:r>
              <a:rPr lang="ar-SA" b="1" dirty="0"/>
              <a:t>مرحلة الإطلاق</a:t>
            </a:r>
            <a:endParaRPr lang="en-US" dirty="0"/>
          </a:p>
        </p:txBody>
      </p:sp>
      <p:sp>
        <p:nvSpPr>
          <p:cNvPr id="3" name="Content Placeholder 2">
            <a:extLst>
              <a:ext uri="{FF2B5EF4-FFF2-40B4-BE49-F238E27FC236}">
                <a16:creationId xmlns:a16="http://schemas.microsoft.com/office/drawing/2014/main" id="{4F9EA2BC-FC35-CF58-DD86-80B5B1A315CC}"/>
              </a:ext>
            </a:extLst>
          </p:cNvPr>
          <p:cNvSpPr>
            <a:spLocks noGrp="1"/>
          </p:cNvSpPr>
          <p:nvPr>
            <p:ph idx="1"/>
          </p:nvPr>
        </p:nvSpPr>
        <p:spPr>
          <a:xfrm>
            <a:off x="747712" y="1430337"/>
            <a:ext cx="9905999" cy="3744913"/>
          </a:xfrm>
        </p:spPr>
        <p:txBody>
          <a:bodyPr>
            <a:normAutofit lnSpcReduction="10000"/>
          </a:bodyPr>
          <a:lstStyle/>
          <a:p>
            <a:r>
              <a:rPr lang="en-US" dirty="0"/>
              <a:t>GPS verification </a:t>
            </a:r>
          </a:p>
          <a:p>
            <a:r>
              <a:rPr lang="en-US" dirty="0"/>
              <a:t>Automatic ARM </a:t>
            </a:r>
          </a:p>
          <a:p>
            <a:r>
              <a:rPr lang="en-US" dirty="0"/>
              <a:t>Offboard activation </a:t>
            </a:r>
          </a:p>
          <a:p>
            <a:r>
              <a:rPr lang="en-US" dirty="0"/>
              <a:t>Takeoff initiation </a:t>
            </a:r>
          </a:p>
          <a:p>
            <a:pPr marL="0" indent="0">
              <a:buNone/>
            </a:pPr>
            <a:endParaRPr lang="ar-SA" b="1" dirty="0"/>
          </a:p>
          <a:p>
            <a:pPr marL="0" indent="0">
              <a:buNone/>
            </a:pPr>
            <a:r>
              <a:rPr lang="en-US" dirty="0"/>
              <a:t>await </a:t>
            </a:r>
            <a:r>
              <a:rPr lang="en-US" dirty="0" err="1"/>
              <a:t>drone.action.arm</a:t>
            </a:r>
            <a:r>
              <a:rPr lang="en-US" dirty="0"/>
              <a:t>()</a:t>
            </a:r>
            <a:br>
              <a:rPr lang="en-US" dirty="0"/>
            </a:br>
            <a:r>
              <a:rPr lang="en-US" dirty="0"/>
              <a:t>await </a:t>
            </a:r>
            <a:r>
              <a:rPr lang="en-US" dirty="0" err="1"/>
              <a:t>drone.offboard.start</a:t>
            </a:r>
            <a:r>
              <a:rPr lang="en-US" dirty="0"/>
              <a:t>()</a:t>
            </a:r>
          </a:p>
          <a:p>
            <a:pPr marL="0" indent="0">
              <a:buNone/>
            </a:pPr>
            <a:endParaRPr lang="en-US" dirty="0"/>
          </a:p>
          <a:p>
            <a:endParaRPr lang="ar-SA" b="1" dirty="0"/>
          </a:p>
          <a:p>
            <a:endParaRPr lang="en-US" dirty="0"/>
          </a:p>
        </p:txBody>
      </p:sp>
      <p:pic>
        <p:nvPicPr>
          <p:cNvPr id="4" name="Picture 3" descr="World's first stable drone with robot arm to increase workplace safety |  maxon group">
            <a:extLst>
              <a:ext uri="{FF2B5EF4-FFF2-40B4-BE49-F238E27FC236}">
                <a16:creationId xmlns:a16="http://schemas.microsoft.com/office/drawing/2014/main" id="{551806E6-93CF-4829-3DD5-C36E17047E23}"/>
              </a:ext>
            </a:extLst>
          </p:cNvPr>
          <p:cNvPicPr>
            <a:picLocks noChangeAspect="1"/>
          </p:cNvPicPr>
          <p:nvPr/>
        </p:nvPicPr>
        <p:blipFill>
          <a:blip r:embed="rId2"/>
          <a:srcRect t="48588"/>
          <a:stretch>
            <a:fillRect/>
          </a:stretch>
        </p:blipFill>
        <p:spPr>
          <a:xfrm>
            <a:off x="5194300" y="1753207"/>
            <a:ext cx="5994400" cy="2311400"/>
          </a:xfrm>
          <a:prstGeom prst="rect">
            <a:avLst/>
          </a:prstGeom>
        </p:spPr>
      </p:pic>
    </p:spTree>
    <p:extLst>
      <p:ext uri="{BB962C8B-B14F-4D97-AF65-F5344CB8AC3E}">
        <p14:creationId xmlns:p14="http://schemas.microsoft.com/office/powerpoint/2010/main" val="1506630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7280E-8CA3-C0BA-FFBF-2F722193CC14}"/>
              </a:ext>
            </a:extLst>
          </p:cNvPr>
          <p:cNvSpPr>
            <a:spLocks noGrp="1"/>
          </p:cNvSpPr>
          <p:nvPr>
            <p:ph type="title"/>
          </p:nvPr>
        </p:nvSpPr>
        <p:spPr>
          <a:xfrm>
            <a:off x="1141413" y="47018"/>
            <a:ext cx="9905998" cy="1478570"/>
          </a:xfrm>
        </p:spPr>
        <p:txBody>
          <a:bodyPr/>
          <a:lstStyle/>
          <a:p>
            <a:pPr algn="ctr"/>
            <a:r>
              <a:rPr lang="en-US" b="1" dirty="0"/>
              <a:t>Interception Mode</a:t>
            </a:r>
            <a:endParaRPr lang="en-US" dirty="0"/>
          </a:p>
        </p:txBody>
      </p:sp>
      <p:sp>
        <p:nvSpPr>
          <p:cNvPr id="3" name="Content Placeholder 2">
            <a:extLst>
              <a:ext uri="{FF2B5EF4-FFF2-40B4-BE49-F238E27FC236}">
                <a16:creationId xmlns:a16="http://schemas.microsoft.com/office/drawing/2014/main" id="{3AE3A9B3-3788-F749-82E1-D10F822EBFF5}"/>
              </a:ext>
            </a:extLst>
          </p:cNvPr>
          <p:cNvSpPr>
            <a:spLocks noGrp="1"/>
          </p:cNvSpPr>
          <p:nvPr>
            <p:ph idx="1"/>
          </p:nvPr>
        </p:nvSpPr>
        <p:spPr>
          <a:xfrm>
            <a:off x="1141413" y="1474786"/>
            <a:ext cx="9905999" cy="5103813"/>
          </a:xfrm>
        </p:spPr>
        <p:txBody>
          <a:bodyPr>
            <a:normAutofit/>
          </a:bodyPr>
          <a:lstStyle/>
          <a:p>
            <a:r>
              <a:rPr lang="en-US" sz="1400" dirty="0"/>
              <a:t>Continuous tracking </a:t>
            </a:r>
          </a:p>
          <a:p>
            <a:r>
              <a:rPr lang="en-US" sz="1400" dirty="0"/>
              <a:t>Speed advantage over target </a:t>
            </a:r>
          </a:p>
          <a:p>
            <a:r>
              <a:rPr lang="en-US" sz="1400" dirty="0"/>
              <a:t>Distance reduction algorithm </a:t>
            </a:r>
          </a:p>
          <a:p>
            <a:r>
              <a:rPr lang="en-US" sz="1400" dirty="0"/>
              <a:t>Dynamic altitude adjustment </a:t>
            </a:r>
          </a:p>
          <a:p>
            <a:pPr marL="0" indent="0">
              <a:buNone/>
            </a:pPr>
            <a:endParaRPr lang="en-US" sz="1400" dirty="0"/>
          </a:p>
          <a:p>
            <a:pPr marL="0" indent="0">
              <a:buNone/>
            </a:pPr>
            <a:br>
              <a:rPr lang="en-US" sz="1400" dirty="0"/>
            </a:br>
            <a:endParaRPr lang="ar-SA" sz="1400" b="1" dirty="0"/>
          </a:p>
          <a:p>
            <a:pPr marL="0" indent="0">
              <a:buNone/>
            </a:pPr>
            <a:r>
              <a:rPr lang="en-US" sz="1400" dirty="0" err="1"/>
              <a:t>shehanah_north</a:t>
            </a:r>
            <a:r>
              <a:rPr lang="en-US" sz="1400" dirty="0"/>
              <a:t> = </a:t>
            </a:r>
            <a:r>
              <a:rPr lang="en-US" sz="1400" dirty="0" err="1"/>
              <a:t>move_towards</a:t>
            </a:r>
            <a:r>
              <a:rPr lang="en-US" sz="1400" dirty="0"/>
              <a:t>(</a:t>
            </a:r>
            <a:br>
              <a:rPr lang="en-US" sz="1400" dirty="0"/>
            </a:br>
            <a:r>
              <a:rPr lang="en-US" sz="1400" dirty="0"/>
              <a:t>    </a:t>
            </a:r>
            <a:r>
              <a:rPr lang="en-US" sz="1400" dirty="0" err="1"/>
              <a:t>shehanah_north</a:t>
            </a:r>
            <a:r>
              <a:rPr lang="en-US" sz="1400" dirty="0"/>
              <a:t>,</a:t>
            </a:r>
            <a:br>
              <a:rPr lang="en-US" sz="1400" dirty="0"/>
            </a:br>
            <a:r>
              <a:rPr lang="en-US" sz="1400" dirty="0"/>
              <a:t>    </a:t>
            </a:r>
            <a:r>
              <a:rPr lang="en-US" sz="1400" dirty="0" err="1"/>
              <a:t>target_north</a:t>
            </a:r>
            <a:r>
              <a:rPr lang="en-US" sz="1400" dirty="0"/>
              <a:t>,</a:t>
            </a:r>
            <a:br>
              <a:rPr lang="en-US" sz="1400" dirty="0"/>
            </a:br>
            <a:r>
              <a:rPr lang="en-US" sz="1400" dirty="0"/>
              <a:t>    FOLLOW_SPEED</a:t>
            </a:r>
            <a:br>
              <a:rPr lang="en-US" sz="1400" dirty="0"/>
            </a:br>
            <a:r>
              <a:rPr lang="en-US" sz="1400" dirty="0"/>
              <a:t>)</a:t>
            </a:r>
            <a:br>
              <a:rPr lang="en-US" sz="1400" dirty="0"/>
            </a:br>
            <a:br>
              <a:rPr lang="en-US" sz="1400" dirty="0"/>
            </a:br>
            <a:r>
              <a:rPr lang="en-US" sz="1400" dirty="0"/>
              <a:t>distance = abs(</a:t>
            </a:r>
            <a:r>
              <a:rPr lang="en-US" sz="1400" dirty="0" err="1"/>
              <a:t>shehanah_north</a:t>
            </a:r>
            <a:r>
              <a:rPr lang="en-US" sz="1400" dirty="0"/>
              <a:t> - </a:t>
            </a:r>
            <a:r>
              <a:rPr lang="en-US" sz="1400" dirty="0" err="1"/>
              <a:t>target_north</a:t>
            </a:r>
            <a:r>
              <a:rPr lang="en-US" sz="1400" dirty="0"/>
              <a:t>)</a:t>
            </a:r>
          </a:p>
        </p:txBody>
      </p:sp>
      <p:pic>
        <p:nvPicPr>
          <p:cNvPr id="4" name="Picture 3" descr="https://images.openai.com/static-rsc-4/fLs2W_5fD5SMPiNclGhaJND9Tx5JuZKdo22-LsyOoWUcm06699x-saavi5kVOtDsLBNxlzv5xbvcdvbUh6f1U4haqsiShma3RbDp-shms0_82obFk6CXrQFAGZraeksgjpHUvEyj9BTGAbOmMTW3ziUYS1LlDNe163diE4LANLLHlGfGUjcmUUbu5qsrHreU?purpose=fullsize">
            <a:extLst>
              <a:ext uri="{FF2B5EF4-FFF2-40B4-BE49-F238E27FC236}">
                <a16:creationId xmlns:a16="http://schemas.microsoft.com/office/drawing/2014/main" id="{BD09370D-E257-F1E2-E9FB-AA073A0A87B4}"/>
              </a:ext>
            </a:extLst>
          </p:cNvPr>
          <p:cNvPicPr>
            <a:picLocks noChangeAspect="1"/>
          </p:cNvPicPr>
          <p:nvPr/>
        </p:nvPicPr>
        <p:blipFill>
          <a:blip r:embed="rId2"/>
          <a:srcRect l="20803" t="18518" r="24629" b="12592"/>
          <a:stretch>
            <a:fillRect/>
          </a:stretch>
        </p:blipFill>
        <p:spPr>
          <a:xfrm>
            <a:off x="7848600" y="1169192"/>
            <a:ext cx="3067050" cy="2581318"/>
          </a:xfrm>
          <a:prstGeom prst="rect">
            <a:avLst/>
          </a:prstGeom>
        </p:spPr>
      </p:pic>
      <p:pic>
        <p:nvPicPr>
          <p:cNvPr id="5" name="Picture 4" descr="https://images.openai.com/static-rsc-4/uvHKVEL1gaK2DrFVojfsVB2mBmBy0hOGtAJypNhKPP26qoT-jOROBU9pmx9CkdA14nnS2WYeVmcDhjA0nzY8S99P3FCiSP2MK5H2p-RHslId4dkyoiOsqlLCZSY65CyHFtBQtNmQImJyncnNTqsv36kj67DRc6KjgspNx6TCNH0BhuEIEAoObZppwBrvC3Rk?purpose=fullsize">
            <a:extLst>
              <a:ext uri="{FF2B5EF4-FFF2-40B4-BE49-F238E27FC236}">
                <a16:creationId xmlns:a16="http://schemas.microsoft.com/office/drawing/2014/main" id="{98B40E3A-7674-642F-D276-D0FE0AF0FDDD}"/>
              </a:ext>
            </a:extLst>
          </p:cNvPr>
          <p:cNvPicPr>
            <a:picLocks noChangeAspect="1"/>
          </p:cNvPicPr>
          <p:nvPr/>
        </p:nvPicPr>
        <p:blipFill>
          <a:blip r:embed="rId3"/>
          <a:stretch>
            <a:fillRect/>
          </a:stretch>
        </p:blipFill>
        <p:spPr>
          <a:xfrm>
            <a:off x="5772149" y="3750510"/>
            <a:ext cx="3857625" cy="2571750"/>
          </a:xfrm>
          <a:prstGeom prst="rect">
            <a:avLst/>
          </a:prstGeom>
        </p:spPr>
      </p:pic>
    </p:spTree>
    <p:extLst>
      <p:ext uri="{BB962C8B-B14F-4D97-AF65-F5344CB8AC3E}">
        <p14:creationId xmlns:p14="http://schemas.microsoft.com/office/powerpoint/2010/main" val="229399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55B1D-78BC-441F-A262-15379020165C}"/>
              </a:ext>
            </a:extLst>
          </p:cNvPr>
          <p:cNvSpPr>
            <a:spLocks noGrp="1"/>
          </p:cNvSpPr>
          <p:nvPr>
            <p:ph type="title"/>
          </p:nvPr>
        </p:nvSpPr>
        <p:spPr/>
        <p:txBody>
          <a:bodyPr/>
          <a:lstStyle/>
          <a:p>
            <a:pPr algn="ctr"/>
            <a:r>
              <a:rPr lang="en-US" b="1" dirty="0"/>
              <a:t>Final Approach | </a:t>
            </a:r>
            <a:r>
              <a:rPr lang="ar-SA" b="1" dirty="0"/>
              <a:t>المرحلة النهائية</a:t>
            </a:r>
            <a:br>
              <a:rPr lang="ar-SA" b="1" dirty="0"/>
            </a:br>
            <a:endParaRPr lang="en-US" dirty="0"/>
          </a:p>
        </p:txBody>
      </p:sp>
      <p:sp>
        <p:nvSpPr>
          <p:cNvPr id="3" name="Content Placeholder 2">
            <a:extLst>
              <a:ext uri="{FF2B5EF4-FFF2-40B4-BE49-F238E27FC236}">
                <a16:creationId xmlns:a16="http://schemas.microsoft.com/office/drawing/2014/main" id="{442D86CC-8EFE-050F-BA86-B2A90D2D3857}"/>
              </a:ext>
            </a:extLst>
          </p:cNvPr>
          <p:cNvSpPr>
            <a:spLocks noGrp="1"/>
          </p:cNvSpPr>
          <p:nvPr>
            <p:ph idx="1"/>
          </p:nvPr>
        </p:nvSpPr>
        <p:spPr>
          <a:xfrm>
            <a:off x="1141411" y="2194718"/>
            <a:ext cx="9905999" cy="3541714"/>
          </a:xfrm>
        </p:spPr>
        <p:txBody>
          <a:bodyPr>
            <a:normAutofit fontScale="92500" lnSpcReduction="20000"/>
          </a:bodyPr>
          <a:lstStyle/>
          <a:p>
            <a:r>
              <a:rPr lang="en-US" dirty="0"/>
              <a:t>Distance &lt; 1 meter </a:t>
            </a:r>
          </a:p>
          <a:p>
            <a:r>
              <a:rPr lang="en-US" dirty="0"/>
              <a:t>Contact imminent </a:t>
            </a:r>
          </a:p>
          <a:p>
            <a:r>
              <a:rPr lang="en-US" dirty="0"/>
              <a:t>Altitude synchronization </a:t>
            </a:r>
          </a:p>
          <a:p>
            <a:r>
              <a:rPr lang="en-US" dirty="0"/>
              <a:t>Target engagement confirmed </a:t>
            </a:r>
            <a:br>
              <a:rPr lang="en-US" dirty="0"/>
            </a:br>
            <a:endParaRPr lang="en-US" dirty="0"/>
          </a:p>
          <a:p>
            <a:pPr marL="0" indent="0">
              <a:buNone/>
            </a:pPr>
            <a:endParaRPr lang="ar-SA" b="1" dirty="0"/>
          </a:p>
          <a:p>
            <a:pPr marL="0" indent="0">
              <a:buNone/>
            </a:pPr>
            <a:r>
              <a:rPr lang="en-US" dirty="0"/>
              <a:t>if distance &lt;= 1.0:</a:t>
            </a:r>
            <a:br>
              <a:rPr lang="en-US" dirty="0"/>
            </a:br>
            <a:r>
              <a:rPr lang="en-US" dirty="0"/>
              <a:t>    print("🛰️ INTERCEPT CONFIRMED")</a:t>
            </a:r>
          </a:p>
          <a:p>
            <a:endParaRPr lang="en-US" dirty="0"/>
          </a:p>
        </p:txBody>
      </p:sp>
      <p:pic>
        <p:nvPicPr>
          <p:cNvPr id="6" name="Picture 5" descr="https://images.openai.com/static-rsc-4/9wj53Cuap4FPQwpEWEmIs5vhWq5bZje0bEFJBooF-m6LhqoYePk2RCxTIkqkdHVfg32hCK--xmLIBkeyGK9zqEaJPDGGkda4weHZ6Z8xnsYamzEBw2cnpvp-3xGdSDrS6q2EpFtB48yKwzzti_DtZQBNLZ3FdYYc86VmnFi1kFVHOkBOBdjkjn9w109UBs7p?purpose=fullsize">
            <a:extLst>
              <a:ext uri="{FF2B5EF4-FFF2-40B4-BE49-F238E27FC236}">
                <a16:creationId xmlns:a16="http://schemas.microsoft.com/office/drawing/2014/main" id="{015C64F6-5455-44CC-628E-9842CBC22309}"/>
              </a:ext>
            </a:extLst>
          </p:cNvPr>
          <p:cNvPicPr>
            <a:picLocks noChangeAspect="1"/>
          </p:cNvPicPr>
          <p:nvPr/>
        </p:nvPicPr>
        <p:blipFill>
          <a:blip r:embed="rId2"/>
          <a:stretch>
            <a:fillRect/>
          </a:stretch>
        </p:blipFill>
        <p:spPr>
          <a:xfrm>
            <a:off x="8312151" y="1780383"/>
            <a:ext cx="2981324" cy="1716088"/>
          </a:xfrm>
          <a:prstGeom prst="rect">
            <a:avLst/>
          </a:prstGeom>
        </p:spPr>
      </p:pic>
      <p:pic>
        <p:nvPicPr>
          <p:cNvPr id="7" name="Picture 6" descr="https://images.openai.com/static-rsc-4/Ct7Df_Axgg1azmE60zQ3u8iFPV0XPIojdZcDtqk8wLAX6Eoh57MCGZAP6xEbDPN8T2f7ukchmi1yUQrCjMfW3RO-Sk5O2vSHTk-joV_8H18L8jon4S4-PbkTq4UXkVYSSbn7zhaZOd8jF7CHopRsBXagj9r2sPC-Jw8Q9PxH1qAK_GyRsUsZKMBDwdp1QvZC?purpose=fullsize">
            <a:extLst>
              <a:ext uri="{FF2B5EF4-FFF2-40B4-BE49-F238E27FC236}">
                <a16:creationId xmlns:a16="http://schemas.microsoft.com/office/drawing/2014/main" id="{834A9749-C8C1-B338-7855-27A4F6630070}"/>
              </a:ext>
            </a:extLst>
          </p:cNvPr>
          <p:cNvPicPr>
            <a:picLocks noChangeAspect="1"/>
          </p:cNvPicPr>
          <p:nvPr/>
        </p:nvPicPr>
        <p:blipFill>
          <a:blip r:embed="rId3"/>
          <a:stretch>
            <a:fillRect/>
          </a:stretch>
        </p:blipFill>
        <p:spPr>
          <a:xfrm>
            <a:off x="6016460" y="3594101"/>
            <a:ext cx="4858082" cy="2732472"/>
          </a:xfrm>
          <a:prstGeom prst="rect">
            <a:avLst/>
          </a:prstGeom>
        </p:spPr>
      </p:pic>
    </p:spTree>
    <p:extLst>
      <p:ext uri="{BB962C8B-B14F-4D97-AF65-F5344CB8AC3E}">
        <p14:creationId xmlns:p14="http://schemas.microsoft.com/office/powerpoint/2010/main" val="30181607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775CF-0D43-E3B5-5696-EA31A2A72662}"/>
              </a:ext>
            </a:extLst>
          </p:cNvPr>
          <p:cNvSpPr>
            <a:spLocks noGrp="1"/>
          </p:cNvSpPr>
          <p:nvPr>
            <p:ph type="title"/>
          </p:nvPr>
        </p:nvSpPr>
        <p:spPr/>
        <p:txBody>
          <a:bodyPr/>
          <a:lstStyle/>
          <a:p>
            <a:pPr algn="ctr"/>
            <a:r>
              <a:rPr lang="en-US" b="1" dirty="0"/>
              <a:t>System States</a:t>
            </a:r>
            <a:br>
              <a:rPr lang="en-US" b="1" dirty="0"/>
            </a:br>
            <a:endParaRPr lang="en-US" dirty="0"/>
          </a:p>
        </p:txBody>
      </p:sp>
      <p:sp>
        <p:nvSpPr>
          <p:cNvPr id="3" name="Content Placeholder 2">
            <a:extLst>
              <a:ext uri="{FF2B5EF4-FFF2-40B4-BE49-F238E27FC236}">
                <a16:creationId xmlns:a16="http://schemas.microsoft.com/office/drawing/2014/main" id="{DFABC6B9-E45D-1C4F-6791-C66FF5F54E64}"/>
              </a:ext>
            </a:extLst>
          </p:cNvPr>
          <p:cNvSpPr>
            <a:spLocks noGrp="1"/>
          </p:cNvSpPr>
          <p:nvPr>
            <p:ph idx="1"/>
          </p:nvPr>
        </p:nvSpPr>
        <p:spPr>
          <a:xfrm>
            <a:off x="1141412" y="2255837"/>
            <a:ext cx="9905999" cy="3541714"/>
          </a:xfrm>
        </p:spPr>
        <p:txBody>
          <a:bodyPr/>
          <a:lstStyle/>
          <a:p>
            <a:r>
              <a:rPr lang="en-US" dirty="0"/>
              <a:t>WAIT </a:t>
            </a:r>
          </a:p>
          <a:p>
            <a:r>
              <a:rPr lang="en-US" dirty="0"/>
              <a:t>LAUNCH </a:t>
            </a:r>
          </a:p>
          <a:p>
            <a:r>
              <a:rPr lang="en-US" dirty="0"/>
              <a:t>INTERCEPT </a:t>
            </a:r>
          </a:p>
          <a:p>
            <a:r>
              <a:rPr lang="en-US" dirty="0"/>
              <a:t>END </a:t>
            </a:r>
          </a:p>
          <a:p>
            <a:pPr marL="0" indent="0">
              <a:buNone/>
            </a:pPr>
            <a:r>
              <a:rPr lang="en-US" b="1" dirty="0"/>
              <a:t>Fully autonomous decision system</a:t>
            </a:r>
          </a:p>
          <a:p>
            <a:endParaRPr lang="en-US" dirty="0"/>
          </a:p>
        </p:txBody>
      </p:sp>
      <p:pic>
        <p:nvPicPr>
          <p:cNvPr id="4" name="Picture 3" descr="EU Earmarks €1B For Defense Research Programs | Aviation Week">
            <a:extLst>
              <a:ext uri="{FF2B5EF4-FFF2-40B4-BE49-F238E27FC236}">
                <a16:creationId xmlns:a16="http://schemas.microsoft.com/office/drawing/2014/main" id="{0D2B6E30-492A-7409-74CB-5302F192593C}"/>
              </a:ext>
            </a:extLst>
          </p:cNvPr>
          <p:cNvPicPr>
            <a:picLocks noChangeAspect="1"/>
          </p:cNvPicPr>
          <p:nvPr/>
        </p:nvPicPr>
        <p:blipFill>
          <a:blip r:embed="rId2"/>
          <a:stretch>
            <a:fillRect/>
          </a:stretch>
        </p:blipFill>
        <p:spPr>
          <a:xfrm>
            <a:off x="6737350" y="1936750"/>
            <a:ext cx="4197349" cy="3148012"/>
          </a:xfrm>
          <a:prstGeom prst="rect">
            <a:avLst/>
          </a:prstGeom>
        </p:spPr>
      </p:pic>
    </p:spTree>
    <p:extLst>
      <p:ext uri="{BB962C8B-B14F-4D97-AF65-F5344CB8AC3E}">
        <p14:creationId xmlns:p14="http://schemas.microsoft.com/office/powerpoint/2010/main" val="883175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D785B-DCF1-A620-0495-A38EC6E17BF4}"/>
              </a:ext>
            </a:extLst>
          </p:cNvPr>
          <p:cNvSpPr>
            <a:spLocks noGrp="1"/>
          </p:cNvSpPr>
          <p:nvPr>
            <p:ph type="title"/>
          </p:nvPr>
        </p:nvSpPr>
        <p:spPr/>
        <p:txBody>
          <a:bodyPr/>
          <a:lstStyle/>
          <a:p>
            <a:pPr algn="ctr"/>
            <a:r>
              <a:rPr lang="en-US" b="1" dirty="0"/>
              <a:t>Mission End</a:t>
            </a:r>
            <a:endParaRPr lang="en-US" dirty="0"/>
          </a:p>
        </p:txBody>
      </p:sp>
      <p:sp>
        <p:nvSpPr>
          <p:cNvPr id="3" name="Content Placeholder 2">
            <a:extLst>
              <a:ext uri="{FF2B5EF4-FFF2-40B4-BE49-F238E27FC236}">
                <a16:creationId xmlns:a16="http://schemas.microsoft.com/office/drawing/2014/main" id="{8ECB5A8F-E9CA-27C8-EE20-5B24D1A5ACC1}"/>
              </a:ext>
            </a:extLst>
          </p:cNvPr>
          <p:cNvSpPr>
            <a:spLocks noGrp="1"/>
          </p:cNvSpPr>
          <p:nvPr>
            <p:ph idx="1"/>
          </p:nvPr>
        </p:nvSpPr>
        <p:spPr/>
        <p:txBody>
          <a:bodyPr/>
          <a:lstStyle/>
          <a:p>
            <a:r>
              <a:rPr lang="en-US" dirty="0"/>
              <a:t>Save Mission Data</a:t>
            </a:r>
            <a:endParaRPr lang="ar-SA" dirty="0"/>
          </a:p>
          <a:p>
            <a:r>
              <a:rPr lang="en-US" dirty="0"/>
              <a:t>Confirm Interception Success</a:t>
            </a:r>
            <a:endParaRPr lang="ar-SA" dirty="0"/>
          </a:p>
          <a:p>
            <a:endParaRPr lang="ar-SA" dirty="0"/>
          </a:p>
          <a:p>
            <a:endParaRPr lang="ar-SA" dirty="0"/>
          </a:p>
          <a:p>
            <a:pPr marL="0" indent="0">
              <a:buNone/>
            </a:pPr>
            <a:r>
              <a:rPr lang="en-US" dirty="0"/>
              <a:t>await </a:t>
            </a:r>
            <a:r>
              <a:rPr lang="en-US" dirty="0" err="1"/>
              <a:t>drone.offboard.stop</a:t>
            </a:r>
            <a:r>
              <a:rPr lang="en-US" dirty="0"/>
              <a:t>()</a:t>
            </a:r>
            <a:br>
              <a:rPr lang="en-US" dirty="0"/>
            </a:br>
            <a:r>
              <a:rPr lang="en-US" dirty="0"/>
              <a:t>await </a:t>
            </a:r>
            <a:r>
              <a:rPr lang="en-US" dirty="0" err="1"/>
              <a:t>drone.action.disarm</a:t>
            </a:r>
            <a:r>
              <a:rPr lang="en-US" dirty="0"/>
              <a:t>()</a:t>
            </a:r>
            <a:endParaRPr lang="ar-SA" dirty="0"/>
          </a:p>
          <a:p>
            <a:endParaRPr lang="en-US" dirty="0"/>
          </a:p>
        </p:txBody>
      </p:sp>
      <p:pic>
        <p:nvPicPr>
          <p:cNvPr id="4" name="Picture 3" descr="US Homeland Security shares new details of mysterious drone flights over New Jersey - International - World - Ahram Online">
            <a:extLst>
              <a:ext uri="{FF2B5EF4-FFF2-40B4-BE49-F238E27FC236}">
                <a16:creationId xmlns:a16="http://schemas.microsoft.com/office/drawing/2014/main" id="{F3DD1578-CF4F-EE2F-3650-9F8993B28AA4}"/>
              </a:ext>
            </a:extLst>
          </p:cNvPr>
          <p:cNvPicPr>
            <a:picLocks noChangeAspect="1"/>
          </p:cNvPicPr>
          <p:nvPr/>
        </p:nvPicPr>
        <p:blipFill>
          <a:blip r:embed="rId2"/>
          <a:srcRect l="14666" t="8692" r="16000" b="10257"/>
          <a:stretch>
            <a:fillRect/>
          </a:stretch>
        </p:blipFill>
        <p:spPr>
          <a:xfrm>
            <a:off x="7692514" y="2419350"/>
            <a:ext cx="3261235" cy="2540000"/>
          </a:xfrm>
          <a:prstGeom prst="rect">
            <a:avLst/>
          </a:prstGeom>
        </p:spPr>
      </p:pic>
    </p:spTree>
    <p:extLst>
      <p:ext uri="{BB962C8B-B14F-4D97-AF65-F5344CB8AC3E}">
        <p14:creationId xmlns:p14="http://schemas.microsoft.com/office/powerpoint/2010/main" val="1548484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B2AD5-981E-31D9-6A2F-0B5C58495DC4}"/>
              </a:ext>
            </a:extLst>
          </p:cNvPr>
          <p:cNvSpPr>
            <a:spLocks noGrp="1"/>
          </p:cNvSpPr>
          <p:nvPr>
            <p:ph type="title"/>
          </p:nvPr>
        </p:nvSpPr>
        <p:spPr/>
        <p:txBody>
          <a:bodyPr/>
          <a:lstStyle/>
          <a:p>
            <a:pPr algn="ctr"/>
            <a:r>
              <a:rPr lang="en-US" b="1" dirty="0"/>
              <a:t>Innovation | </a:t>
            </a:r>
            <a:r>
              <a:rPr lang="ar-SA" b="1" dirty="0"/>
              <a:t>الابتكار</a:t>
            </a:r>
            <a:endParaRPr lang="en-US" dirty="0"/>
          </a:p>
        </p:txBody>
      </p:sp>
      <p:sp>
        <p:nvSpPr>
          <p:cNvPr id="3" name="Content Placeholder 2">
            <a:extLst>
              <a:ext uri="{FF2B5EF4-FFF2-40B4-BE49-F238E27FC236}">
                <a16:creationId xmlns:a16="http://schemas.microsoft.com/office/drawing/2014/main" id="{0F49A25C-985E-2CC8-DF1E-3A9C35D4AEA7}"/>
              </a:ext>
            </a:extLst>
          </p:cNvPr>
          <p:cNvSpPr>
            <a:spLocks noGrp="1"/>
          </p:cNvSpPr>
          <p:nvPr>
            <p:ph idx="1"/>
          </p:nvPr>
        </p:nvSpPr>
        <p:spPr>
          <a:xfrm>
            <a:off x="720724" y="2097088"/>
            <a:ext cx="5373688" cy="3541714"/>
          </a:xfrm>
        </p:spPr>
        <p:txBody>
          <a:bodyPr/>
          <a:lstStyle/>
          <a:p>
            <a:r>
              <a:rPr lang="en-US" dirty="0"/>
              <a:t>Low-cost interceptor drone</a:t>
            </a:r>
            <a:r>
              <a:rPr lang="ar-SA" dirty="0"/>
              <a:t> </a:t>
            </a:r>
            <a:r>
              <a:rPr lang="en-US" dirty="0"/>
              <a:t>system</a:t>
            </a:r>
            <a:endParaRPr lang="ar-SA" dirty="0"/>
          </a:p>
          <a:p>
            <a:r>
              <a:rPr lang="en-US" dirty="0"/>
              <a:t> Real-time autonomous decision making</a:t>
            </a:r>
            <a:endParaRPr lang="ar-SA" dirty="0"/>
          </a:p>
          <a:p>
            <a:r>
              <a:rPr lang="en-US" dirty="0"/>
              <a:t>Replaces expensive air defense systems</a:t>
            </a:r>
            <a:endParaRPr lang="ar-SA" dirty="0"/>
          </a:p>
          <a:p>
            <a:r>
              <a:rPr lang="en-US" dirty="0"/>
              <a:t>Scalable architecture</a:t>
            </a:r>
            <a:endParaRPr lang="ar-SA" dirty="0"/>
          </a:p>
          <a:p>
            <a:endParaRPr lang="ar-SA" dirty="0"/>
          </a:p>
          <a:p>
            <a:pPr marL="0" indent="0">
              <a:buNone/>
            </a:pPr>
            <a:r>
              <a:rPr lang="en-US" b="1" dirty="0"/>
              <a:t>A New Concept in Smart Air Defense</a:t>
            </a:r>
            <a:endParaRPr lang="en-US" dirty="0"/>
          </a:p>
          <a:p>
            <a:pPr marL="0" indent="0">
              <a:buNone/>
            </a:pPr>
            <a:endParaRPr lang="en-US" dirty="0"/>
          </a:p>
        </p:txBody>
      </p:sp>
      <p:sp>
        <p:nvSpPr>
          <p:cNvPr id="4" name="Content Placeholder 2">
            <a:extLst>
              <a:ext uri="{FF2B5EF4-FFF2-40B4-BE49-F238E27FC236}">
                <a16:creationId xmlns:a16="http://schemas.microsoft.com/office/drawing/2014/main" id="{71A2A3E6-DAFF-CD68-15CB-C605BBDD7550}"/>
              </a:ext>
            </a:extLst>
          </p:cNvPr>
          <p:cNvSpPr txBox="1">
            <a:spLocks/>
          </p:cNvSpPr>
          <p:nvPr/>
        </p:nvSpPr>
        <p:spPr>
          <a:xfrm>
            <a:off x="6094412" y="2097088"/>
            <a:ext cx="5373688" cy="354171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algn="r" rtl="1"/>
            <a:r>
              <a:rPr lang="ar-SA" dirty="0"/>
              <a:t>نظام طائرات اعتراضية منخفض التكلفة</a:t>
            </a:r>
          </a:p>
          <a:p>
            <a:pPr algn="r" rtl="1"/>
            <a:r>
              <a:rPr lang="ar-SA" dirty="0"/>
              <a:t>اتخاذ قرار ذاتي في الوقت الحقيقي</a:t>
            </a:r>
          </a:p>
          <a:p>
            <a:pPr algn="r" rtl="1"/>
            <a:r>
              <a:rPr lang="ar-SA" dirty="0"/>
              <a:t> بديل فعّال لأنظمة الدفاع الجوي المكلفة</a:t>
            </a:r>
          </a:p>
          <a:p>
            <a:pPr algn="r" rtl="1"/>
            <a:r>
              <a:rPr lang="ar-SA" dirty="0"/>
              <a:t> معمارية قابلة للتوسع</a:t>
            </a:r>
          </a:p>
          <a:p>
            <a:pPr algn="r" rtl="1"/>
            <a:endParaRPr lang="ar-SA" dirty="0"/>
          </a:p>
          <a:p>
            <a:pPr marL="0" indent="0" algn="r" rtl="1">
              <a:buNone/>
            </a:pPr>
            <a:r>
              <a:rPr lang="ar-SA" b="1" dirty="0"/>
              <a:t>فكرة جديدة في الدفاع الجوي الذكي</a:t>
            </a:r>
          </a:p>
          <a:p>
            <a:pPr marL="0" indent="0" algn="r" rtl="1">
              <a:buNone/>
            </a:pPr>
            <a:endParaRPr lang="en-US" dirty="0"/>
          </a:p>
        </p:txBody>
      </p:sp>
    </p:spTree>
    <p:extLst>
      <p:ext uri="{BB962C8B-B14F-4D97-AF65-F5344CB8AC3E}">
        <p14:creationId xmlns:p14="http://schemas.microsoft.com/office/powerpoint/2010/main" val="26217645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9BA23-A5B1-BBF4-DFAC-A16EE420DB99}"/>
              </a:ext>
            </a:extLst>
          </p:cNvPr>
          <p:cNvSpPr>
            <a:spLocks noGrp="1"/>
          </p:cNvSpPr>
          <p:nvPr>
            <p:ph type="title"/>
          </p:nvPr>
        </p:nvSpPr>
        <p:spPr/>
        <p:txBody>
          <a:bodyPr/>
          <a:lstStyle/>
          <a:p>
            <a:pPr algn="ctr"/>
            <a:r>
              <a:rPr lang="en-US" dirty="0"/>
              <a:t>Conclusion</a:t>
            </a:r>
          </a:p>
        </p:txBody>
      </p:sp>
      <p:sp>
        <p:nvSpPr>
          <p:cNvPr id="3" name="Content Placeholder 2">
            <a:extLst>
              <a:ext uri="{FF2B5EF4-FFF2-40B4-BE49-F238E27FC236}">
                <a16:creationId xmlns:a16="http://schemas.microsoft.com/office/drawing/2014/main" id="{ABC6CDE4-2B8A-0032-4BC0-D3B14C99A25C}"/>
              </a:ext>
            </a:extLst>
          </p:cNvPr>
          <p:cNvSpPr>
            <a:spLocks noGrp="1"/>
          </p:cNvSpPr>
          <p:nvPr>
            <p:ph idx="1"/>
          </p:nvPr>
        </p:nvSpPr>
        <p:spPr>
          <a:xfrm>
            <a:off x="196850" y="2249487"/>
            <a:ext cx="5962651" cy="2608263"/>
          </a:xfrm>
        </p:spPr>
        <p:txBody>
          <a:bodyPr>
            <a:normAutofit fontScale="92500"/>
          </a:bodyPr>
          <a:lstStyle/>
          <a:p>
            <a:pPr marL="0" indent="0">
              <a:buNone/>
            </a:pPr>
            <a:r>
              <a:rPr lang="en-US" dirty="0"/>
              <a:t>SHEHANAH demonstrates a fully autonomous interceptor drone capable of detecting, tracking, and engaging aerial threats in real time.</a:t>
            </a:r>
            <a:endParaRPr lang="ar-SA" dirty="0"/>
          </a:p>
          <a:p>
            <a:pPr marL="0" indent="0">
              <a:buNone/>
            </a:pPr>
            <a:endParaRPr lang="ar-SA" b="1" dirty="0"/>
          </a:p>
          <a:p>
            <a:pPr marL="0" indent="0">
              <a:buNone/>
            </a:pPr>
            <a:r>
              <a:rPr lang="en-US" b="1" dirty="0"/>
              <a:t>Autonomous defense is the future of air security.</a:t>
            </a:r>
            <a:endParaRPr lang="en-US" dirty="0"/>
          </a:p>
          <a:p>
            <a:endParaRPr lang="en-US" dirty="0"/>
          </a:p>
        </p:txBody>
      </p:sp>
      <p:sp>
        <p:nvSpPr>
          <p:cNvPr id="4" name="Content Placeholder 2">
            <a:extLst>
              <a:ext uri="{FF2B5EF4-FFF2-40B4-BE49-F238E27FC236}">
                <a16:creationId xmlns:a16="http://schemas.microsoft.com/office/drawing/2014/main" id="{3F3B8BC1-9B03-D478-F03F-A438C41A6650}"/>
              </a:ext>
            </a:extLst>
          </p:cNvPr>
          <p:cNvSpPr txBox="1">
            <a:spLocks/>
          </p:cNvSpPr>
          <p:nvPr/>
        </p:nvSpPr>
        <p:spPr>
          <a:xfrm>
            <a:off x="6094412" y="2249486"/>
            <a:ext cx="5627688" cy="260826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algn="r" rtl="1"/>
            <a:r>
              <a:rPr lang="ar-SA" b="1" dirty="0"/>
              <a:t>يُجسّد نظام </a:t>
            </a:r>
            <a:r>
              <a:rPr lang="ar-SA" b="1" dirty="0" err="1"/>
              <a:t>شيهانة</a:t>
            </a:r>
            <a:r>
              <a:rPr lang="ar-SA" b="1" dirty="0"/>
              <a:t> طائرة اعتراضية ذاتية التشغيل بالكامل قادرة على كشف وتتبع والتعامل مع التهديدات الجوية في الوقت الحقيقي.</a:t>
            </a:r>
            <a:endParaRPr lang="ar-SA" dirty="0"/>
          </a:p>
          <a:p>
            <a:pPr marL="0" indent="0" algn="r" rtl="1">
              <a:buNone/>
            </a:pPr>
            <a:endParaRPr lang="ar-SA" dirty="0"/>
          </a:p>
          <a:p>
            <a:pPr marL="0" indent="0" algn="r" rtl="1">
              <a:buNone/>
            </a:pPr>
            <a:r>
              <a:rPr lang="ar-SA" dirty="0"/>
              <a:t>الدفاع الذاتي يمثل مستقبل أمن المجال الجوي.</a:t>
            </a:r>
            <a:endParaRPr lang="en-US" dirty="0"/>
          </a:p>
        </p:txBody>
      </p:sp>
    </p:spTree>
    <p:extLst>
      <p:ext uri="{BB962C8B-B14F-4D97-AF65-F5344CB8AC3E}">
        <p14:creationId xmlns:p14="http://schemas.microsoft.com/office/powerpoint/2010/main" val="3151792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CA00C-F978-F768-53C2-FFEB04AA9BD9}"/>
              </a:ext>
            </a:extLst>
          </p:cNvPr>
          <p:cNvSpPr>
            <a:spLocks noGrp="1"/>
          </p:cNvSpPr>
          <p:nvPr>
            <p:ph type="title"/>
          </p:nvPr>
        </p:nvSpPr>
        <p:spPr/>
        <p:txBody>
          <a:bodyPr/>
          <a:lstStyle/>
          <a:p>
            <a:pPr algn="ctr"/>
            <a:r>
              <a:rPr lang="en-US" b="1" dirty="0"/>
              <a:t>FINAL SLIDE — Live Demonstration</a:t>
            </a:r>
            <a:endParaRPr lang="en-US" dirty="0"/>
          </a:p>
        </p:txBody>
      </p:sp>
      <p:sp>
        <p:nvSpPr>
          <p:cNvPr id="3" name="Content Placeholder 2">
            <a:extLst>
              <a:ext uri="{FF2B5EF4-FFF2-40B4-BE49-F238E27FC236}">
                <a16:creationId xmlns:a16="http://schemas.microsoft.com/office/drawing/2014/main" id="{2575B2E7-6E8E-E064-8759-5ED3975BD689}"/>
              </a:ext>
            </a:extLst>
          </p:cNvPr>
          <p:cNvSpPr>
            <a:spLocks noGrp="1"/>
          </p:cNvSpPr>
          <p:nvPr>
            <p:ph idx="1"/>
          </p:nvPr>
        </p:nvSpPr>
        <p:spPr>
          <a:xfrm>
            <a:off x="1141413" y="2697768"/>
            <a:ext cx="9905999" cy="3541714"/>
          </a:xfrm>
        </p:spPr>
        <p:txBody>
          <a:bodyPr/>
          <a:lstStyle/>
          <a:p>
            <a:pPr marL="0" indent="0" algn="ctr">
              <a:buNone/>
            </a:pPr>
            <a:r>
              <a:rPr lang="en-US" dirty="0"/>
              <a:t>Now we will demonstrate how SHEHANAH operates in real time — from detection to interception — fully autonomously.</a:t>
            </a:r>
          </a:p>
          <a:p>
            <a:pPr algn="ctr"/>
            <a:endParaRPr lang="en-US" dirty="0"/>
          </a:p>
        </p:txBody>
      </p:sp>
    </p:spTree>
    <p:extLst>
      <p:ext uri="{BB962C8B-B14F-4D97-AF65-F5344CB8AC3E}">
        <p14:creationId xmlns:p14="http://schemas.microsoft.com/office/powerpoint/2010/main" val="1465058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C7E8E-8666-0802-10A5-732BCCF33A0E}"/>
              </a:ext>
            </a:extLst>
          </p:cNvPr>
          <p:cNvSpPr>
            <a:spLocks noGrp="1"/>
          </p:cNvSpPr>
          <p:nvPr>
            <p:ph type="title"/>
          </p:nvPr>
        </p:nvSpPr>
        <p:spPr>
          <a:xfrm>
            <a:off x="1143001" y="3676650"/>
            <a:ext cx="9905998" cy="2755900"/>
          </a:xfrm>
        </p:spPr>
        <p:txBody>
          <a:bodyPr>
            <a:noAutofit/>
          </a:bodyPr>
          <a:lstStyle/>
          <a:p>
            <a:pPr algn="ctr" rtl="1"/>
            <a:r>
              <a:rPr lang="ar-SA" sz="2000" dirty="0"/>
              <a:t>تم بحمد الله تقديم هذا المشروع إلى </a:t>
            </a:r>
            <a:r>
              <a:rPr lang="ar-SA" sz="2000" b="1" dirty="0"/>
              <a:t>الهيئة السعودية للملكية الفكرية</a:t>
            </a:r>
            <a:r>
              <a:rPr lang="ar-SA" sz="2000" dirty="0"/>
              <a:t> بهدف تسجيله كـ </a:t>
            </a:r>
            <a:r>
              <a:rPr lang="ar-SA" sz="2000" b="1" dirty="0"/>
              <a:t>براءة اختراع</a:t>
            </a:r>
            <a:r>
              <a:rPr lang="ar-SA" sz="2000" dirty="0"/>
              <a:t> وحماية الفكرة التقنية.</a:t>
            </a:r>
            <a:br>
              <a:rPr lang="ar-SA" sz="2000" dirty="0"/>
            </a:br>
            <a:r>
              <a:rPr lang="ar-SA" sz="2000" dirty="0"/>
              <a:t>نأمل أن يحظى المشروع بالقبول والنجاح، وأن يكون خطوة نحو تطوير أنظمة ذكية في مجال الطائرات المسيّرة والأمن الجوي.</a:t>
            </a:r>
            <a:br>
              <a:rPr lang="ar-SA" sz="2000" dirty="0"/>
            </a:br>
            <a:r>
              <a:rPr lang="ar-SA" sz="2000" dirty="0"/>
              <a:t>أتمنى التوفيق والنجاح للجميع، وشكرًا لحسن استماعكم.</a:t>
            </a:r>
            <a:br>
              <a:rPr lang="ar-SA" sz="2000" dirty="0"/>
            </a:br>
            <a:endParaRPr lang="en-US" sz="2000" dirty="0"/>
          </a:p>
        </p:txBody>
      </p:sp>
      <p:sp>
        <p:nvSpPr>
          <p:cNvPr id="3" name="Content Placeholder 2">
            <a:extLst>
              <a:ext uri="{FF2B5EF4-FFF2-40B4-BE49-F238E27FC236}">
                <a16:creationId xmlns:a16="http://schemas.microsoft.com/office/drawing/2014/main" id="{296C837D-513A-1AF9-5ABF-651351E5ABE8}"/>
              </a:ext>
            </a:extLst>
          </p:cNvPr>
          <p:cNvSpPr>
            <a:spLocks noGrp="1"/>
          </p:cNvSpPr>
          <p:nvPr>
            <p:ph idx="1"/>
          </p:nvPr>
        </p:nvSpPr>
        <p:spPr>
          <a:xfrm>
            <a:off x="969962" y="357187"/>
            <a:ext cx="9905999" cy="3541714"/>
          </a:xfrm>
        </p:spPr>
        <p:txBody>
          <a:bodyPr>
            <a:normAutofit/>
          </a:bodyPr>
          <a:lstStyle/>
          <a:p>
            <a:pPr marL="0" indent="0" algn="ctr">
              <a:buNone/>
            </a:pPr>
            <a:r>
              <a:rPr lang="ar-SA" dirty="0"/>
              <a:t>في الختام، أشكر الجميع على حسن الاستماع والمتابعة.</a:t>
            </a:r>
          </a:p>
          <a:p>
            <a:pPr marL="0" indent="0" algn="ctr">
              <a:buNone/>
            </a:pPr>
            <a:r>
              <a:rPr lang="ar-SA" dirty="0"/>
              <a:t>أتمنى أني وفّقت في شرح المشروعين </a:t>
            </a:r>
            <a:r>
              <a:rPr lang="en-US" b="1" dirty="0"/>
              <a:t>SHAHEEN X</a:t>
            </a:r>
            <a:r>
              <a:rPr lang="en-US" dirty="0"/>
              <a:t> </a:t>
            </a:r>
            <a:r>
              <a:rPr lang="ar-SA" dirty="0"/>
              <a:t>و </a:t>
            </a:r>
            <a:r>
              <a:rPr lang="en-US" b="1" dirty="0"/>
              <a:t>SHEHANAH</a:t>
            </a:r>
            <a:r>
              <a:rPr lang="en-US" dirty="0"/>
              <a:t>، </a:t>
            </a:r>
            <a:r>
              <a:rPr lang="ar-SA" dirty="0"/>
              <a:t>وأن الفكرة كانت واضحة وملهمة لكم.</a:t>
            </a:r>
          </a:p>
          <a:p>
            <a:pPr marL="0" indent="0" algn="ctr">
              <a:buNone/>
            </a:pPr>
            <a:r>
              <a:rPr lang="ar-SA" dirty="0"/>
              <a:t>هذه المشاريع تمثل خطوة بسيطة نحو أفكار أكبر في مجال الأنظمة الذكية والطائرات المسيّرة.</a:t>
            </a:r>
          </a:p>
          <a:p>
            <a:pPr marL="0" indent="0" algn="ctr">
              <a:buNone/>
            </a:pPr>
            <a:r>
              <a:rPr lang="ar-SA" dirty="0"/>
              <a:t>وشكر خاص لكم جميعًا، وأتمنى أنني استطعت أن أقدم لكم شيء يلفت الانتباه ويعكس الجهد المبذول في هذا العمل.</a:t>
            </a:r>
          </a:p>
          <a:p>
            <a:pPr marL="0" indent="0" algn="ctr">
              <a:buNone/>
            </a:pPr>
            <a:endParaRPr lang="en-US" dirty="0"/>
          </a:p>
        </p:txBody>
      </p:sp>
    </p:spTree>
    <p:extLst>
      <p:ext uri="{BB962C8B-B14F-4D97-AF65-F5344CB8AC3E}">
        <p14:creationId xmlns:p14="http://schemas.microsoft.com/office/powerpoint/2010/main" val="20195447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{AE9AF57B-DEB4-4391-9E2A-AFF7BB85CA6C}TF6d5feb1e-e145-43f1-b745-cb4b54c5ee975d365c52-ce22229b0e48</Template>
  <TotalTime>93</TotalTime>
  <Words>767</Words>
  <Application>Microsoft Office PowerPoint</Application>
  <PresentationFormat>Widescreen</PresentationFormat>
  <Paragraphs>114</Paragraphs>
  <Slides>15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Tw Cen MT</vt:lpstr>
      <vt:lpstr>Circuit</vt:lpstr>
      <vt:lpstr>Autonomous Drone Interception System </vt:lpstr>
      <vt:lpstr>Autonomous Drone Interception System نظام اعتراض الطائرات المسيّرة بشكل ذاتي</vt:lpstr>
      <vt:lpstr>Problem Statement | المشكلة </vt:lpstr>
      <vt:lpstr>System Concept | فكرة النظام </vt:lpstr>
      <vt:lpstr>System Architecture | معمارية النظام</vt:lpstr>
      <vt:lpstr>Radar Detection System</vt:lpstr>
      <vt:lpstr>Launch Phase | مرحلة الإطلاق</vt:lpstr>
      <vt:lpstr>Interception Mode</vt:lpstr>
      <vt:lpstr>Final Approach | المرحلة النهائية </vt:lpstr>
      <vt:lpstr>System States </vt:lpstr>
      <vt:lpstr>Mission End</vt:lpstr>
      <vt:lpstr>Innovation | الابتكار</vt:lpstr>
      <vt:lpstr>Conclusion</vt:lpstr>
      <vt:lpstr>FINAL SLIDE — Live Demonstration</vt:lpstr>
      <vt:lpstr>تم بحمد الله تقديم هذا المشروع إلى الهيئة السعودية للملكية الفكرية بهدف تسجيله كـ براءة اختراع وحماية الفكرة التقنية. نأمل أن يحظى المشروع بالقبول والنجاح، وأن يكون خطوة نحو تطوير أنظمة ذكية في مجال الطائرات المسيّرة والأمن الجوي. أتمنى التوفيق والنجاح للجميع، وشكرًا لحسن استماعكم.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Salman Alshammri</dc:creator>
  <cp:lastModifiedBy>Salman Alshammri</cp:lastModifiedBy>
  <cp:revision>1</cp:revision>
  <dcterms:created xsi:type="dcterms:W3CDTF">2026-05-21T05:13:02Z</dcterms:created>
  <dcterms:modified xsi:type="dcterms:W3CDTF">2026-05-21T06:46:56Z</dcterms:modified>
</cp:coreProperties>
</file>